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17C238-0A08-4C96-AC22-6153A024B09D}">
  <a:tblStyle styleId="{C517C238-0A08-4C96-AC22-6153A024B0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50edb510d_1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50edb510d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50edb510d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50edb510d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50edb510d_1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50edb510d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000">
                <a:solidFill>
                  <a:schemeClr val="lt1"/>
                </a:solidFill>
              </a:rPr>
              <a:t>Capstone Presentation</a:t>
            </a:r>
            <a:endParaRPr b="1" sz="5000">
              <a:solidFill>
                <a:schemeClr val="lt1"/>
              </a:solidFill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lt1"/>
                </a:solidFill>
              </a:rPr>
              <a:t>Supply Chain Optimization in FMCG Sector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000">
                <a:solidFill>
                  <a:schemeClr val="lt1"/>
                </a:solidFill>
              </a:rPr>
              <a:t>Business Problem Understanding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FMCG company faces shipment imbalances across warehouses.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Some warehouses are oversupplied, others undersupplied.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Need a model to optimize product weight distribution.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Analysis must also identify high-demand areas and risk factors.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150" y="4035700"/>
            <a:ext cx="3733800" cy="2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000">
                <a:solidFill>
                  <a:schemeClr val="lt1"/>
                </a:solidFill>
              </a:rPr>
              <a:t> Data Exploration &amp; Key Observations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Location_type: Mostly rural warehouses.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WH_capacity_size: Mostly Large &amp; Mid.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North &amp; West zones have the most warehouses.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Zone 6 highest concentration, then Zone 5 and Zone 4</a:t>
            </a:r>
            <a:r>
              <a:rPr lang="en-US" sz="2500">
                <a:solidFill>
                  <a:schemeClr val="lt1"/>
                </a:solidFill>
              </a:rPr>
              <a:t>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Company-owned warehouses slightly more than rented.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000">
                <a:solidFill>
                  <a:schemeClr val="lt1"/>
                </a:solidFill>
              </a:rPr>
              <a:t>Modeling Approach Used &amp; Why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11480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411480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411480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411480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3696" lvl="0" marL="9144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-US"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Best Model:</a:t>
            </a:r>
            <a:r>
              <a:rPr lang="en-US"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Random Forest Regressor.</a:t>
            </a:r>
            <a:endParaRPr sz="2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5444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8696"/>
              <a:buChar char="•"/>
            </a:pPr>
            <a:r>
              <a:rPr lang="en-US"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Selected because it gives high accuracy, works well with complex data, and shows which factors are most important.</a:t>
            </a:r>
            <a:b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952500" y="173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{C517C238-0A08-4C96-AC22-6153A024B09D}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R2  Score 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0.993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SVR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0.989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Ridge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0.977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Lasso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0.966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50"/>
            <a:ext cx="82296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Model Tuning &amp; Final Performance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405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Random Forest selected and hyperparameter tuned to get the best model.</a:t>
            </a:r>
            <a:endParaRPr sz="2500">
              <a:solidFill>
                <a:schemeClr val="lt1"/>
              </a:solidFill>
            </a:endParaRPr>
          </a:p>
          <a:p>
            <a:pPr indent="-387350" lvl="0" marL="3429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Fitting 10 folds for each of 160 candidates so total 1600 fits.</a:t>
            </a:r>
            <a:endParaRPr sz="2500">
              <a:solidFill>
                <a:schemeClr val="lt1"/>
              </a:solidFill>
            </a:endParaRPr>
          </a:p>
          <a:p>
            <a:pPr indent="-387350" lvl="0" marL="3429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Best Score: 0.9519</a:t>
            </a:r>
            <a:endParaRPr sz="2500">
              <a:solidFill>
                <a:schemeClr val="lt1"/>
              </a:solidFill>
            </a:endParaRPr>
          </a:p>
          <a:p>
            <a:pPr indent="-387350" lvl="0" marL="3429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Best Parameters: max_depth=20, max_features='sqrt', min_samples_leaf=5, n_estimators=200.</a:t>
            </a:r>
            <a:endParaRPr sz="2500">
              <a:solidFill>
                <a:schemeClr val="lt1"/>
              </a:solidFill>
            </a:endParaRPr>
          </a:p>
          <a:p>
            <a:pPr indent="-387350" lvl="0" marL="342900" rtl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Final Test R² Score: 0.9548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000">
                <a:solidFill>
                  <a:schemeClr val="lt1"/>
                </a:solidFill>
              </a:rPr>
              <a:t>Insights from Analysis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Some high-shipment warehouses lack electricity or temperature control, creating a risk of spoilage.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Flood-affected zones get less supply.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Government checks have little effect on supply.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More distributors = better supply management despite competition</a:t>
            </a:r>
            <a:br>
              <a:rPr lang="en-US" sz="2500">
                <a:solidFill>
                  <a:schemeClr val="lt1"/>
                </a:solidFill>
              </a:rPr>
            </a:b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</a:rPr>
              <a:t>Demand &amp; Supply Patterns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Zone 6 has highest supply &amp; warehouse count.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Zone 1 has lowest supply.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High-supply zones often overlap with high distributor presence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Supply is shaped by infrastructure, risks, and competition.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</a:rPr>
              <a:t>Recommendations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Upgrade infrastructure in high-shipment warehouses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Factor flood risks into supply planning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Maintain a strong distributor network for wider coverage.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Track competition impact regularly to adapt strategy.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Implement real-time monitoring of warehouse conditions (temperature, electricity).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Use predictive analytics to forecast demand and adjust shipments in advance.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Develop contingency supply routes for high-risk zones</a:t>
            </a:r>
            <a:r>
              <a:rPr lang="en-US" sz="2500">
                <a:solidFill>
                  <a:schemeClr val="lt1"/>
                </a:solidFill>
              </a:rPr>
              <a:t>.</a:t>
            </a:r>
            <a:br>
              <a:rPr lang="en-US" sz="2500">
                <a:solidFill>
                  <a:schemeClr val="lt1"/>
                </a:solidFill>
              </a:rPr>
            </a:b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</a:rPr>
              <a:t>Conclusion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Implementing the recommendations will improve supply reliability and reduce losses.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Tuned Random Forest model ensures accurate prediction of warehouse needs.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Balanced supply planning will optimize resources and minimize risks.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Integration into the supply chain system enables faster, data-driven decisions.</a:t>
            </a:r>
            <a:br>
              <a:rPr lang="en-US" sz="2500">
                <a:solidFill>
                  <a:schemeClr val="lt1"/>
                </a:solidFill>
              </a:rPr>
            </a:b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